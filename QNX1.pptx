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1B3506A-16A3-67BF-AD28-E71EEE86744B}">
          <p14:sldIdLst>
            <p14:sldId id="256"/>
          </p14:sldIdLst>
        </p14:section>
        <p14:section name="Problem" id="{924832F4-ABAE-DF31-0D3E-E375528F6458}">
          <p14:sldIdLst>
            <p14:sldId id="257"/>
            <p14:sldId id="258"/>
          </p14:sldIdLst>
        </p14:section>
        <p14:section name="Architecture" id="{CF7132E3-4A2F-1079-94D4-2F03E5073DEF}">
          <p14:sldIdLst>
            <p14:sldId id="259"/>
            <p14:sldId id="260"/>
            <p14:sldId id="261"/>
          </p14:sldIdLst>
        </p14:section>
        <p14:section name="Resilience" id="{5D86CA66-CA76-D5FC-66E8-E8B771B92D88}">
          <p14:sldIdLst>
            <p14:sldId id="262"/>
          </p14:sldIdLst>
        </p14:section>
        <p14:section name="Demonstration" id="{CF3D151B-5086-6D91-B3C2-F815F6097D3F}">
          <p14:sldIdLst>
            <p14:sldId id="263"/>
            <p14:sldId id="264"/>
            <p14:sldId id="265"/>
            <p14:sldId id="267"/>
          </p14:sldIdLst>
        </p14:section>
        <p14:section name="Default-1" id="{998BDC97-95FE-A1E6-4749-15D0617D45C3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48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IT SIMPLY: Introduce the team and college, then the idea: when several patients arrive together, our system ranks them by severity and shows who should be treated next, using separate QNX processes.</a:t>
            </a:r>
          </a:p>
          <a:p>
            <a:r>
              <a:rPr lang="en-US" dirty="0"/>
              <a:t>ADD FROM OUR OWN WORK: A photo or screenshot of the setup you actually run (QNX target or VM with the dashboard open).</a:t>
            </a:r>
          </a:p>
          <a:p>
            <a:r>
              <a:rPr lang="en-US" dirty="0"/>
              <a:t>QUESTION FOR THE TEAM: What works today, and what is still planned? Say it in one sentence so the judges know what to expect.</a:t>
            </a:r>
          </a:p>
          <a:p>
            <a:r>
              <a:rPr lang="en-US" dirty="0"/>
              <a:t>(Delete the capitalised guide lines from these notes before you present, and keep only what you can say yourself.)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IT SIMPLY: Several patients arrive close together, beds are limited and conditions change. The ranking has to stay correct as that happens, and a real-time OS gives predictable timing.</a:t>
            </a:r>
          </a:p>
          <a:p>
            <a:r>
              <a:rPr lang="en-US" dirty="0"/>
              <a:t>ADD FROM OUR OWN WORK: The real inputs your system takes for one patient, and one real test case such as two patients arriving together.</a:t>
            </a:r>
          </a:p>
          <a:p>
            <a:r>
              <a:rPr lang="en-US" dirty="0"/>
              <a:t>QUESTION FOR THE TEAM: What describes a patient in your system (age, vitals, symptom, manually chosen severity)? What update delay are you aiming for, and have you measured it?</a:t>
            </a:r>
          </a:p>
          <a:p>
            <a:r>
              <a:rPr lang="en-US" dirty="0"/>
              <a:t>CITE OR VERIFY: Any hospital or emergency statistics you quote need a source. Do not quote numbers you cannot cite.</a:t>
            </a:r>
          </a:p>
          <a:p>
            <a:r>
              <a:rPr lang="en-US" dirty="0"/>
              <a:t>(Delete the capitalised guide lines from these notes before you present, and keep only what you can say yourself.)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IT SIMPLY: Say what the system does in one breath: it ranks patients by severity, tracks ICU beds and shows the next patient to treat.</a:t>
            </a:r>
          </a:p>
          <a:p>
            <a:r>
              <a:rPr lang="en-US" dirty="0"/>
              <a:t>ADD FROM OUR OWN WORK: A screenshot of your dashboard with your own test patients on it.</a:t>
            </a:r>
          </a:p>
          <a:p>
            <a:r>
              <a:rPr lang="en-US" dirty="0"/>
              <a:t>QUESTION FOR THE TEAM: For ranking, bed tracking and the dashboard: is each one working, partly working or planned?</a:t>
            </a:r>
          </a:p>
          <a:p>
            <a:r>
              <a:rPr lang="en-US" dirty="0"/>
              <a:t>(Delete the capitalised guide lines from these notes before you present, and keep only what you can say yourself.)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IT SIMPLY: Go left to right: Patient (arrival), Triage (severity), Priority (rank), Resource (ICU beds), Display (dashboard). QNX gives each process its own memory space, so a bug in one is less likely to corrupt the others.</a:t>
            </a:r>
          </a:p>
          <a:p>
            <a:r>
              <a:rPr lang="en-US" dirty="0"/>
              <a:t>ADD FROM OUR OWN WORK: Your own architecture diagram built from your code, with the real process names and arrows showing who sends to whom.</a:t>
            </a:r>
          </a:p>
          <a:p>
            <a:r>
              <a:rPr lang="en-US" dirty="0"/>
              <a:t>QUESTION FOR THE TEAM: Which IPC do you use: message passing (MsgSend/MsgReceive/MsgReply), pulses, named channels, or something else? Which process is the server? How is each process started?</a:t>
            </a:r>
          </a:p>
          <a:p>
            <a:r>
              <a:rPr lang="en-US" dirty="0"/>
              <a:t>CITE OR VERIFY: The QNX documentation for any claim about process isolation or IPC. Keep 'easier to debug' only if you tested processes on their own.</a:t>
            </a:r>
          </a:p>
          <a:p>
            <a:r>
              <a:rPr lang="en-US" dirty="0"/>
              <a:t>(Delete the capitalised guide lines from these notes before you present, and keep only what you can say yourself.)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IT SIMPLY: Patient data goes to Triage, which sets a severity level. Priority sorts patients into a queue. Resource keeps the free-bed count. Display shows the ranked list and the next patient.</a:t>
            </a:r>
          </a:p>
          <a:p>
            <a:r>
              <a:rPr lang="en-US" dirty="0"/>
              <a:t>ADD FROM OUR OWN WORK: A short code snippet of the message structure or the comparison that orders patients.</a:t>
            </a:r>
          </a:p>
          <a:p>
            <a:r>
              <a:rPr lang="en-US" dirty="0"/>
              <a:t>QUESTION FOR THE TEAM: How are two patients with the same severity ordered (arrival time or something else)? Is the queue a sorted array, a heap or another structure, and which process owns it?</a:t>
            </a:r>
          </a:p>
          <a:p>
            <a:r>
              <a:rPr lang="en-US" dirty="0"/>
              <a:t>CITE OR VERIFY: Check that every box and arrow here matches your code.</a:t>
            </a:r>
          </a:p>
          <a:p>
            <a:r>
              <a:rPr lang="en-US" dirty="0"/>
              <a:t>(Delete the capitalised guide lines from these notes before you present, and keep only what you can say yourself.)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IT SIMPLY: Four levels from Critical to Mild. Triage assigns a level and Priority orders patients, most severe first. This is a simplified teaching example and not a clinically validated triage protocol.</a:t>
            </a:r>
          </a:p>
          <a:p>
            <a:r>
              <a:rPr lang="en-US" dirty="0"/>
              <a:t>ADD FROM OUR OWN WORK: Your actual severity rules or table, exactly as coded.</a:t>
            </a:r>
          </a:p>
          <a:p>
            <a:r>
              <a:rPr lang="en-US" dirty="0"/>
              <a:t>QUESTION FOR THE TEAM: How does Triage choose a level: fixed rules, thresholds on inputs, or manual entry? Is the scale your own or based on a published one?</a:t>
            </a:r>
          </a:p>
          <a:p>
            <a:r>
              <a:rPr lang="en-US" dirty="0"/>
              <a:t>CITE OR VERIFY: If it follows a published scale (ESI, MTS, START or another), name it and cite it. If it is your own simplification, say so.</a:t>
            </a:r>
          </a:p>
          <a:p>
            <a:r>
              <a:rPr lang="en-US" dirty="0"/>
              <a:t>(Delete the capitalised guide lines from these notes before you present, and keep only what you can say yourself.)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IT SIMPLY: The problem is many patients and changing data. Our design answer is one job per process, linked by IPC. The last column is a target until we have measurements.</a:t>
            </a:r>
          </a:p>
          <a:p>
            <a:r>
              <a:rPr lang="en-US" dirty="0"/>
              <a:t>ADD FROM OUR OWN WORK: One design decision with your real reason, for example why separate processes and not threads. Use it only if that was your actual reasoning.</a:t>
            </a:r>
          </a:p>
          <a:p>
            <a:r>
              <a:rPr lang="en-US" dirty="0"/>
              <a:t>QUESTION FOR THE TEAM: Did you test what happens when one process stops or restarts? What did you observe?</a:t>
            </a:r>
          </a:p>
          <a:p>
            <a:r>
              <a:rPr lang="en-US" dirty="0"/>
              <a:t>(Delete the capitalised guide lines from these notes before you present, and keep only what you can say yourself.)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IT SIMPLY: The profiler capture shows CPU use of each process and thread timing during our run. Read the numbers as they are and say what they do and do not show.</a:t>
            </a:r>
          </a:p>
          <a:p>
            <a:r>
              <a:rPr lang="en-US" dirty="0"/>
              <a:t>ADD FROM OUR OWN WORK: The real Momentics System Profiler screenshot from your own run, with the numbers you read from it.</a:t>
            </a:r>
          </a:p>
          <a:p>
            <a:r>
              <a:rPr lang="en-US" dirty="0"/>
              <a:t>QUESTION FOR THE TEAM: Which processes and threads appear in the capture? How long was the run and how many patients were in it? Did you set QNX scheduling priorities?</a:t>
            </a:r>
          </a:p>
          <a:p>
            <a:r>
              <a:rPr lang="en-US" dirty="0"/>
              <a:t>CITE OR VERIFY: Do not use a sample or online screenshot. Do not describe results you did not measure.</a:t>
            </a:r>
          </a:p>
          <a:p>
            <a:r>
              <a:rPr lang="en-US" dirty="0"/>
              <a:t>(Delete the capitalised guide lines from these notes before you present, and keep only what you can say yourself.)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IT SIMPLY: Four steps: add several patients, change a severity, change ICU or bed availability, then watch the dashboard and queue update.</a:t>
            </a:r>
          </a:p>
          <a:p>
            <a:r>
              <a:rPr lang="en-US" dirty="0"/>
              <a:t>ADD FROM OUR OWN WORK: Screenshots of each step from a real run, plus a short screen recording as a backup.</a:t>
            </a:r>
          </a:p>
          <a:p>
            <a:r>
              <a:rPr lang="en-US" dirty="0"/>
              <a:t>QUESTION FOR THE TEAM: What exact patients and values will you use? What on the screen shows that the ranking changed?</a:t>
            </a:r>
          </a:p>
          <a:p>
            <a:r>
              <a:rPr lang="en-US" dirty="0"/>
              <a:t>(Delete the capitalised guide lines from these notes before you present, and keep only what you can say yourself.)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IT SIMPLY: This is the growth path and it is planned work: more departments, patients and beds, then hospitals sharing data. The current design has five processes.</a:t>
            </a:r>
          </a:p>
          <a:p>
            <a:r>
              <a:rPr lang="en-US" dirty="0"/>
              <a:t>ADD FROM OUR OWN WORK: A short honest list of what is not tested yet, such as larger patient counts.</a:t>
            </a:r>
          </a:p>
          <a:p>
            <a:r>
              <a:rPr lang="en-US" dirty="0"/>
              <a:t>QUESTION FOR THE TEAM: Have you thought about how processes on different machines would talk to each other? (QNX has a native networking layer called Qnet. Mention it only if you looked into it.)</a:t>
            </a:r>
          </a:p>
          <a:p>
            <a:r>
              <a:rPr lang="en-US" dirty="0"/>
              <a:t>CITE OR VERIFY: Anything you say about QNX networking or scaling needs a QNX documentation source.</a:t>
            </a:r>
          </a:p>
          <a:p>
            <a:r>
              <a:rPr lang="en-US" dirty="0"/>
              <a:t>(Delete the capitalised guide lines from these notes before you present, and keep only what you can say yourself.)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IT SIMPLY: QNX is a real-time OS with predictable scheduling and process isolation, which suits a system where late updates matter. We use both for ranking emergency patients.</a:t>
            </a:r>
          </a:p>
          <a:p>
            <a:r>
              <a:rPr lang="en-US" dirty="0"/>
              <a:t>ADD FROM OUR OWN WORK: One limitation of the current version, stated honestly.</a:t>
            </a:r>
          </a:p>
          <a:p>
            <a:r>
              <a:rPr lang="en-US" dirty="0"/>
              <a:t>QUESTION FOR THE TEAM: Which QNX documentation did you use for these two points?</a:t>
            </a:r>
          </a:p>
          <a:p>
            <a:r>
              <a:rPr lang="en-US" dirty="0"/>
              <a:t>CITE OR VERIFY: Cite the QNX documentation for the scheduling and isolation claims.</a:t>
            </a:r>
          </a:p>
          <a:p>
            <a:r>
              <a:rPr lang="en-US" dirty="0"/>
              <a:t>(Delete the capitalised guide lines from these notes before you present, and keep only what you can say yourself.)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IT SIMPLY: Repeat the idea in one sentence and invite questions.</a:t>
            </a:r>
          </a:p>
          <a:p>
            <a:r>
              <a:rPr lang="en-US" dirty="0"/>
              <a:t>ADD FROM OUR OWN WORK: A link to your code repository or a demo video, if you want judges to see more.</a:t>
            </a:r>
          </a:p>
          <a:p>
            <a:r>
              <a:rPr lang="en-US" dirty="0"/>
              <a:t>QUESTION FOR THE TEAM: Prepare answers to: which IPC did you use, how is severity decided, what happens if a process stops, what did the profiler show?</a:t>
            </a:r>
          </a:p>
          <a:p>
            <a:r>
              <a:rPr lang="en-US" dirty="0"/>
              <a:t>(Delete the capitalised guide lines from these notes before you present, and keep only what you can say yourself.)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417320"/>
            <a:ext cx="51206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6576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pic>
        <p:nvPicPr>
          <p:cNvPr id="3" name="Image 0" descr="/home/claude/w/logo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65760"/>
            <a:ext cx="822960" cy="42336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Hospital Emergency Response Coordinator  |  QNX RTOS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737360"/>
            <a:ext cx="5486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ng 1"/>
          <p:cNvSpPr/>
          <p:nvPr/>
        </p:nvSpPr>
        <p:spPr>
          <a:xfrm>
            <a:off x="4846320" y="-274320"/>
            <a:ext cx="4754880" cy="4754880"/>
          </a:xfrm>
          <a:prstGeom prst="ellipse">
            <a:avLst/>
          </a:prstGeom>
          <a:solidFill>
            <a:srgbClr val="0B1220">
              <a:alpha val="0"/>
            </a:srgbClr>
          </a:solidFill>
          <a:ln w="19050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4" name="Ring 2"/>
          <p:cNvSpPr/>
          <p:nvPr/>
        </p:nvSpPr>
        <p:spPr>
          <a:xfrm>
            <a:off x="5394960" y="274320"/>
            <a:ext cx="3657600" cy="3657600"/>
          </a:xfrm>
          <a:prstGeom prst="ellipse">
            <a:avLst/>
          </a:prstGeom>
          <a:solidFill>
            <a:srgbClr val="0B1220">
              <a:alpha val="0"/>
            </a:srgbClr>
          </a:solidFill>
          <a:ln w="19050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5" name="Ring 3"/>
          <p:cNvSpPr/>
          <p:nvPr/>
        </p:nvSpPr>
        <p:spPr>
          <a:xfrm>
            <a:off x="5943600" y="822960"/>
            <a:ext cx="2560320" cy="2560320"/>
          </a:xfrm>
          <a:prstGeom prst="ellipse">
            <a:avLst/>
          </a:prstGeom>
          <a:solidFill>
            <a:srgbClr val="0B1220">
              <a:alpha val="0"/>
            </a:srgbClr>
          </a:solidFill>
          <a:ln w="19050">
            <a:solidFill>
              <a:schemeClr val="accent1">
                <a:alpha val="70000"/>
              </a:schemeClr>
            </a:solidFill>
            <a:prstDash val="solid"/>
          </a:ln>
        </p:spPr>
      </p:sp>
      <p:sp>
        <p:nvSpPr>
          <p:cNvPr id="6" name="Heartbeat badge"/>
          <p:cNvSpPr/>
          <p:nvPr/>
        </p:nvSpPr>
        <p:spPr>
          <a:xfrm>
            <a:off x="6537960" y="1417320"/>
            <a:ext cx="1371600" cy="1371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Heartbea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737360"/>
            <a:ext cx="731520" cy="7315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LEVEL HACKATHON</a:t>
            </a:r>
            <a:endParaRPr lang="en-US" sz="1400" dirty="0"/>
          </a:p>
        </p:txBody>
      </p:sp>
      <p:sp>
        <p:nvSpPr>
          <p:cNvPr id="9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41732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Emergency Response Coordinator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880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emergency patients in real time on QNX RTOS</a:t>
            </a:r>
            <a:endParaRPr lang="en-US" sz="1800" dirty="0"/>
          </a:p>
        </p:txBody>
      </p:sp>
      <p:sp>
        <p:nvSpPr>
          <p:cNvPr id="12" name="Logo chip"/>
          <p:cNvSpPr/>
          <p:nvPr/>
        </p:nvSpPr>
        <p:spPr>
          <a:xfrm>
            <a:off x="548640" y="4480560"/>
            <a:ext cx="329184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/home/claude/w/logo_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544568"/>
            <a:ext cx="1005840" cy="517550"/>
          </a:xfrm>
          <a:prstGeom prst="rect">
            <a:avLst/>
          </a:prstGeom>
        </p:spPr>
      </p:pic>
      <p:pic>
        <p:nvPicPr>
          <p:cNvPr id="14" name="Image 2" descr="/home/claude/w/logo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960" y="4562856"/>
            <a:ext cx="1737360" cy="411480"/>
          </a:xfrm>
          <a:prstGeom prst="rect">
            <a:avLst/>
          </a:prstGeom>
        </p:spPr>
      </p:pic>
      <p:sp>
        <p:nvSpPr>
          <p:cNvPr id="17" name="Team members"/>
          <p:cNvSpPr txBox="1"/>
          <p:nvPr/>
        </p:nvSpPr>
        <p:spPr>
          <a:xfrm>
            <a:off x="548640" y="34747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ATHIPATI MADHU SRI</a:t>
            </a:r>
            <a:r>
              <a:rPr lang="en-US" sz="1200" b="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(23711A0404)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BUTTI NAVYA SAI REDDY</a:t>
            </a:r>
            <a:r>
              <a:rPr lang="en-US" sz="1200" b="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(23711A0407)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SHAIK SHABREEN</a:t>
            </a:r>
            <a:r>
              <a:rPr lang="en-US" sz="1200" b="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(24715A0406)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NARAYANA ENGINEERING COLLEGE, NELLORE, ANDHRA PRADESH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6576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Triage Order Matters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patients arrive together, who is treated first?</a:t>
            </a:r>
            <a:endParaRPr lang="en-US" sz="1800" dirty="0"/>
          </a:p>
        </p:txBody>
      </p:sp>
      <p:sp>
        <p:nvSpPr>
          <p:cNvPr id="5" name="Problem card 1"/>
          <p:cNvSpPr/>
          <p:nvPr/>
        </p:nvSpPr>
        <p:spPr>
          <a:xfrm>
            <a:off x="457200" y="173736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roblem icon circle 1"/>
          <p:cNvSpPr/>
          <p:nvPr/>
        </p:nvSpPr>
        <p:spPr>
          <a:xfrm>
            <a:off x="685800" y="19659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The Scenari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130552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31546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surge, several patients arrive together and staff must pick the treatment order while conditions keep changing.</a:t>
            </a:r>
            <a:endParaRPr lang="en-US" sz="1400" dirty="0"/>
          </a:p>
        </p:txBody>
      </p:sp>
      <p:sp>
        <p:nvSpPr>
          <p:cNvPr id="10" name="Problem card 2"/>
          <p:cNvSpPr/>
          <p:nvPr/>
        </p:nvSpPr>
        <p:spPr>
          <a:xfrm>
            <a:off x="3291840" y="173736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roblem icon circle 2"/>
          <p:cNvSpPr/>
          <p:nvPr/>
        </p:nvSpPr>
        <p:spPr>
          <a:xfrm>
            <a:off x="3520440" y="19659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1" descr="Criticalit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213055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520440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Timing Matters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3520440" y="31546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and bed availability change while staff are working, so the ranking has to update without delay.</a:t>
            </a:r>
            <a:endParaRPr lang="en-US" sz="1400" dirty="0"/>
          </a:p>
        </p:txBody>
      </p:sp>
      <p:sp>
        <p:nvSpPr>
          <p:cNvPr id="15" name="Problem card 3"/>
          <p:cNvSpPr/>
          <p:nvPr/>
        </p:nvSpPr>
        <p:spPr>
          <a:xfrm>
            <a:off x="6126480" y="173736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roblem icon circle 3"/>
          <p:cNvSpPr/>
          <p:nvPr/>
        </p:nvSpPr>
        <p:spPr>
          <a:xfrm>
            <a:off x="6355080" y="19659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2" descr="Success Metric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2130552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355080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Aim For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6355080" y="31546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should always show each patient's priority rank, free ICU beds and the next patient to treat.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6576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4" name="Value panel"/>
          <p:cNvSpPr/>
          <p:nvPr/>
        </p:nvSpPr>
        <p:spPr>
          <a:xfrm>
            <a:off x="457200" y="1371600"/>
            <a:ext cx="3931920" cy="3108960"/>
          </a:xfrm>
          <a:prstGeom prst="roundRect">
            <a:avLst>
              <a:gd name="adj" fmla="val 35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645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01168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QNX system that ranks patients by severity, tracks ICU beds and shows the next patient on a dashboard.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931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separate QNX processes</a:t>
            </a:r>
            <a:endParaRPr lang="en-US" sz="1400" dirty="0"/>
          </a:p>
        </p:txBody>
      </p:sp>
      <p:sp>
        <p:nvSpPr>
          <p:cNvPr id="8" name="Feature tile 1"/>
          <p:cNvSpPr/>
          <p:nvPr/>
        </p:nvSpPr>
        <p:spPr>
          <a:xfrm>
            <a:off x="4663440" y="1371600"/>
            <a:ext cx="19202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eature icon circle 1"/>
          <p:cNvSpPr/>
          <p:nvPr/>
        </p:nvSpPr>
        <p:spPr>
          <a:xfrm>
            <a:off x="484632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0" descr="Triage by severit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336" y="1682496"/>
            <a:ext cx="246888" cy="24688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846320" y="21945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by severity</a:t>
            </a:r>
            <a:endParaRPr lang="en-US" sz="1400" dirty="0"/>
          </a:p>
        </p:txBody>
      </p:sp>
      <p:sp>
        <p:nvSpPr>
          <p:cNvPr id="12" name="Feature tile 2"/>
          <p:cNvSpPr/>
          <p:nvPr/>
        </p:nvSpPr>
        <p:spPr>
          <a:xfrm>
            <a:off x="6766560" y="1371600"/>
            <a:ext cx="19202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Feature icon circle 2"/>
          <p:cNvSpPr/>
          <p:nvPr/>
        </p:nvSpPr>
        <p:spPr>
          <a:xfrm>
            <a:off x="694944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1" descr="Automatic priority rank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456" y="1682496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949440" y="21945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priority ranking</a:t>
            </a:r>
            <a:endParaRPr lang="en-US" sz="1400" dirty="0"/>
          </a:p>
        </p:txBody>
      </p:sp>
      <p:sp>
        <p:nvSpPr>
          <p:cNvPr id="16" name="Feature tile 3"/>
          <p:cNvSpPr/>
          <p:nvPr/>
        </p:nvSpPr>
        <p:spPr>
          <a:xfrm>
            <a:off x="4663440" y="3017520"/>
            <a:ext cx="19202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Feature icon circle 3"/>
          <p:cNvSpPr/>
          <p:nvPr/>
        </p:nvSpPr>
        <p:spPr>
          <a:xfrm>
            <a:off x="4846320" y="32004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2" descr="Live ICU and bed track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4336" y="3328416"/>
            <a:ext cx="246888" cy="24688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846320" y="3840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ICU and bed tracking</a:t>
            </a:r>
            <a:endParaRPr lang="en-US" sz="1400" dirty="0"/>
          </a:p>
        </p:txBody>
      </p:sp>
      <p:sp>
        <p:nvSpPr>
          <p:cNvPr id="20" name="Feature tile 4"/>
          <p:cNvSpPr/>
          <p:nvPr/>
        </p:nvSpPr>
        <p:spPr>
          <a:xfrm>
            <a:off x="6766560" y="3017520"/>
            <a:ext cx="19202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Feature icon circle 4"/>
          <p:cNvSpPr/>
          <p:nvPr/>
        </p:nvSpPr>
        <p:spPr>
          <a:xfrm>
            <a:off x="6949440" y="32004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mage 3" descr="Real-time dashboar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456" y="3328416"/>
            <a:ext cx="246888" cy="24688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949440" y="3840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6576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QNX Architecture</a:t>
            </a:r>
            <a:endParaRPr lang="en-US" sz="3600" dirty="0"/>
          </a:p>
        </p:txBody>
      </p:sp>
      <p:sp>
        <p:nvSpPr>
          <p:cNvPr id="4" name="Process card Patient"/>
          <p:cNvSpPr/>
          <p:nvPr/>
        </p:nvSpPr>
        <p:spPr>
          <a:xfrm>
            <a:off x="457200" y="1280160"/>
            <a:ext cx="1463040" cy="16002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cess icon circle Patient"/>
          <p:cNvSpPr/>
          <p:nvPr/>
        </p:nvSpPr>
        <p:spPr>
          <a:xfrm>
            <a:off x="91440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atie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55448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3774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arrival</a:t>
            </a:r>
            <a:endParaRPr lang="en-US" sz="1200" dirty="0"/>
          </a:p>
        </p:txBody>
      </p:sp>
      <p:sp>
        <p:nvSpPr>
          <p:cNvPr id="9" name="IPC link Patient"/>
          <p:cNvSpPr/>
          <p:nvPr/>
        </p:nvSpPr>
        <p:spPr>
          <a:xfrm>
            <a:off x="1188720" y="2880360"/>
            <a:ext cx="0" cy="32004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0" name="Process card Triage"/>
          <p:cNvSpPr/>
          <p:nvPr/>
        </p:nvSpPr>
        <p:spPr>
          <a:xfrm>
            <a:off x="2148840" y="1280160"/>
            <a:ext cx="1463040" cy="16002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rocess icon circle Triage"/>
          <p:cNvSpPr/>
          <p:nvPr/>
        </p:nvSpPr>
        <p:spPr>
          <a:xfrm>
            <a:off x="260604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1" descr="Tri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5544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148840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2240280" y="23774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and severity</a:t>
            </a:r>
            <a:endParaRPr lang="en-US" sz="1200" dirty="0"/>
          </a:p>
        </p:txBody>
      </p:sp>
      <p:sp>
        <p:nvSpPr>
          <p:cNvPr id="15" name="IPC link Triage"/>
          <p:cNvSpPr/>
          <p:nvPr/>
        </p:nvSpPr>
        <p:spPr>
          <a:xfrm>
            <a:off x="2880360" y="2880360"/>
            <a:ext cx="0" cy="32004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6" name="Process card Priority"/>
          <p:cNvSpPr/>
          <p:nvPr/>
        </p:nvSpPr>
        <p:spPr>
          <a:xfrm>
            <a:off x="3840480" y="1280160"/>
            <a:ext cx="1463040" cy="16002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rocess icon circle Priority"/>
          <p:cNvSpPr/>
          <p:nvPr/>
        </p:nvSpPr>
        <p:spPr>
          <a:xfrm>
            <a:off x="429768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2" descr="Priorit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155448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840480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3931920" y="23774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rank</a:t>
            </a:r>
            <a:endParaRPr lang="en-US" sz="1200" dirty="0"/>
          </a:p>
        </p:txBody>
      </p:sp>
      <p:sp>
        <p:nvSpPr>
          <p:cNvPr id="21" name="IPC link Priority"/>
          <p:cNvSpPr/>
          <p:nvPr/>
        </p:nvSpPr>
        <p:spPr>
          <a:xfrm>
            <a:off x="4572000" y="2880360"/>
            <a:ext cx="0" cy="32004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22" name="Process card Resource"/>
          <p:cNvSpPr/>
          <p:nvPr/>
        </p:nvSpPr>
        <p:spPr>
          <a:xfrm>
            <a:off x="5532120" y="1280160"/>
            <a:ext cx="1463040" cy="16002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Process icon circle Resource"/>
          <p:cNvSpPr/>
          <p:nvPr/>
        </p:nvSpPr>
        <p:spPr>
          <a:xfrm>
            <a:off x="598932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mage 3" descr="Resourc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155448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32120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5623560" y="23774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beds and resources</a:t>
            </a:r>
            <a:endParaRPr lang="en-US" sz="1200" dirty="0"/>
          </a:p>
        </p:txBody>
      </p:sp>
      <p:sp>
        <p:nvSpPr>
          <p:cNvPr id="27" name="IPC link Resource"/>
          <p:cNvSpPr/>
          <p:nvPr/>
        </p:nvSpPr>
        <p:spPr>
          <a:xfrm>
            <a:off x="6263640" y="2880360"/>
            <a:ext cx="0" cy="32004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28" name="Process card Display"/>
          <p:cNvSpPr/>
          <p:nvPr/>
        </p:nvSpPr>
        <p:spPr>
          <a:xfrm>
            <a:off x="7223760" y="1280160"/>
            <a:ext cx="1463040" cy="160020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Process icon circle Display"/>
          <p:cNvSpPr/>
          <p:nvPr/>
        </p:nvSpPr>
        <p:spPr>
          <a:xfrm>
            <a:off x="7680960" y="141732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0" name="Image 4" descr="Display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0" y="155448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223760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7315200" y="23774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3" name="IPC link Display"/>
          <p:cNvSpPr/>
          <p:nvPr/>
        </p:nvSpPr>
        <p:spPr>
          <a:xfrm>
            <a:off x="7955280" y="2880360"/>
            <a:ext cx="0" cy="32004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34" name="IPC bar"/>
          <p:cNvSpPr/>
          <p:nvPr/>
        </p:nvSpPr>
        <p:spPr>
          <a:xfrm>
            <a:off x="457200" y="3200400"/>
            <a:ext cx="822960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QNX Inter-Process Communication (IPC)  |  [TEAM: name the IPC mechanism used]</a:t>
            </a:r>
            <a:endParaRPr lang="en-US" sz="1600" dirty="0"/>
          </a:p>
        </p:txBody>
      </p:sp>
      <p:sp>
        <p:nvSpPr>
          <p:cNvPr id="36" name="Benefit 1"/>
          <p:cNvSpPr/>
          <p:nvPr/>
        </p:nvSpPr>
        <p:spPr>
          <a:xfrm>
            <a:off x="457200" y="3840480"/>
            <a:ext cx="25603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640080" y="39044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Processes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640080" y="41879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function is its own QNX process</a:t>
            </a:r>
            <a:endParaRPr lang="en-US" sz="1200" dirty="0"/>
          </a:p>
        </p:txBody>
      </p:sp>
      <p:sp>
        <p:nvSpPr>
          <p:cNvPr id="39" name="Benefit 2"/>
          <p:cNvSpPr/>
          <p:nvPr/>
        </p:nvSpPr>
        <p:spPr>
          <a:xfrm>
            <a:off x="3291840" y="3840480"/>
            <a:ext cx="25603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3474720" y="39044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Debug</a:t>
            </a:r>
            <a:endParaRPr lang="en-US" sz="1400" dirty="0"/>
          </a:p>
        </p:txBody>
      </p:sp>
      <p:sp>
        <p:nvSpPr>
          <p:cNvPr id="41" name="Text 33"/>
          <p:cNvSpPr txBox="1"/>
          <p:nvPr/>
        </p:nvSpPr>
        <p:spPr>
          <a:xfrm>
            <a:off x="3474720" y="41879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can be tested on its own</a:t>
            </a:r>
            <a:endParaRPr lang="en-US" sz="1200" dirty="0"/>
          </a:p>
        </p:txBody>
      </p:sp>
      <p:sp>
        <p:nvSpPr>
          <p:cNvPr id="42" name="Benefit 3"/>
          <p:cNvSpPr/>
          <p:nvPr/>
        </p:nvSpPr>
        <p:spPr>
          <a:xfrm>
            <a:off x="6126480" y="3840480"/>
            <a:ext cx="25603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6309360" y="39044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Extend</a:t>
            </a:r>
            <a:endParaRPr lang="en-US" sz="1400" dirty="0"/>
          </a:p>
        </p:txBody>
      </p:sp>
      <p:sp>
        <p:nvSpPr>
          <p:cNvPr id="44" name="Text 36"/>
          <p:cNvSpPr txBox="1"/>
          <p:nvPr/>
        </p:nvSpPr>
        <p:spPr>
          <a:xfrm>
            <a:off x="6309360" y="41879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feature can be a new process</a:t>
            </a:r>
            <a:endParaRPr lang="en-US" sz="120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6576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Flow</a:t>
            </a:r>
            <a:endParaRPr lang="en-US" sz="3600" dirty="0"/>
          </a:p>
        </p:txBody>
      </p:sp>
      <p:sp>
        <p:nvSpPr>
          <p:cNvPr id="4" name="Step circle 1"/>
          <p:cNvSpPr/>
          <p:nvPr/>
        </p:nvSpPr>
        <p:spPr>
          <a:xfrm>
            <a:off x="457200" y="1325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Process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6093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the patient's condition and sets a severity level</a:t>
            </a:r>
            <a:endParaRPr lang="en-US" sz="1400" dirty="0"/>
          </a:p>
        </p:txBody>
      </p:sp>
      <p:sp>
        <p:nvSpPr>
          <p:cNvPr id="8" name="Step circle 2"/>
          <p:cNvSpPr/>
          <p:nvPr/>
        </p:nvSpPr>
        <p:spPr>
          <a:xfrm>
            <a:off x="457200" y="21488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2103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Process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4323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patients by severity into a priority queue</a:t>
            </a:r>
            <a:endParaRPr lang="en-US" sz="1400" dirty="0"/>
          </a:p>
        </p:txBody>
      </p:sp>
      <p:sp>
        <p:nvSpPr>
          <p:cNvPr id="12" name="Step circle 3"/>
          <p:cNvSpPr/>
          <p:nvPr/>
        </p:nvSpPr>
        <p:spPr>
          <a:xfrm>
            <a:off x="457200" y="2971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926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Process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2552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count of free ICU beds and other resources</a:t>
            </a:r>
            <a:endParaRPr lang="en-US" sz="1400" dirty="0"/>
          </a:p>
        </p:txBody>
      </p:sp>
      <p:sp>
        <p:nvSpPr>
          <p:cNvPr id="16" name="Step circle 4"/>
          <p:cNvSpPr/>
          <p:nvPr/>
        </p:nvSpPr>
        <p:spPr>
          <a:xfrm>
            <a:off x="457200" y="379476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3749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Process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40782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ranked list and the next patient to treat</a:t>
            </a:r>
            <a:endParaRPr lang="en-US" sz="1400" dirty="0"/>
          </a:p>
        </p:txBody>
      </p:sp>
      <p:sp>
        <p:nvSpPr>
          <p:cNvPr id="20" name="Dashboard mock panel"/>
          <p:cNvSpPr/>
          <p:nvPr/>
        </p:nvSpPr>
        <p:spPr>
          <a:xfrm>
            <a:off x="5486400" y="1280160"/>
            <a:ext cx="3200400" cy="3337560"/>
          </a:xfrm>
          <a:prstGeom prst="roundRect">
            <a:avLst>
              <a:gd name="adj" fmla="val 3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71500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MOCK-UP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71500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patient to treat</a:t>
            </a:r>
            <a:endParaRPr lang="en-US" sz="1400" dirty="0"/>
          </a:p>
        </p:txBody>
      </p:sp>
      <p:sp>
        <p:nvSpPr>
          <p:cNvPr id="23" name="Mock row 1"/>
          <p:cNvSpPr/>
          <p:nvPr/>
        </p:nvSpPr>
        <p:spPr>
          <a:xfrm>
            <a:off x="5715000" y="2057400"/>
            <a:ext cx="2743200" cy="329184"/>
          </a:xfrm>
          <a:prstGeom prst="roundRect">
            <a:avLst>
              <a:gd name="adj" fmla="val 2857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Mock dot 1"/>
          <p:cNvSpPr/>
          <p:nvPr/>
        </p:nvSpPr>
        <p:spPr>
          <a:xfrm>
            <a:off x="5852160" y="2139696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126480" y="2057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315200" y="20574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00" dirty="0"/>
          </a:p>
        </p:txBody>
      </p:sp>
      <p:sp>
        <p:nvSpPr>
          <p:cNvPr id="27" name="Mock row 2"/>
          <p:cNvSpPr/>
          <p:nvPr/>
        </p:nvSpPr>
        <p:spPr>
          <a:xfrm>
            <a:off x="5715000" y="2432304"/>
            <a:ext cx="2743200" cy="329184"/>
          </a:xfrm>
          <a:prstGeom prst="roundRect">
            <a:avLst>
              <a:gd name="adj" fmla="val 2857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Mock dot 2"/>
          <p:cNvSpPr/>
          <p:nvPr/>
        </p:nvSpPr>
        <p:spPr>
          <a:xfrm>
            <a:off x="5852160" y="2514600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126480" y="24323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B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315200" y="2432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1200" dirty="0"/>
          </a:p>
        </p:txBody>
      </p:sp>
      <p:sp>
        <p:nvSpPr>
          <p:cNvPr id="31" name="Mock row 3"/>
          <p:cNvSpPr/>
          <p:nvPr/>
        </p:nvSpPr>
        <p:spPr>
          <a:xfrm>
            <a:off x="5715000" y="2807208"/>
            <a:ext cx="2743200" cy="329184"/>
          </a:xfrm>
          <a:prstGeom prst="roundRect">
            <a:avLst>
              <a:gd name="adj" fmla="val 2857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2" name="Mock dot 3"/>
          <p:cNvSpPr/>
          <p:nvPr/>
        </p:nvSpPr>
        <p:spPr>
          <a:xfrm>
            <a:off x="5852160" y="2889504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126480" y="28072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7315200" y="28072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1200" dirty="0"/>
          </a:p>
        </p:txBody>
      </p:sp>
      <p:sp>
        <p:nvSpPr>
          <p:cNvPr id="301" name="Mock row 3 r4"/>
          <p:cNvSpPr/>
          <p:nvPr/>
        </p:nvSpPr>
        <p:spPr>
          <a:xfrm>
            <a:off x="5715000" y="3182112"/>
            <a:ext cx="2743200" cy="329184"/>
          </a:xfrm>
          <a:prstGeom prst="roundRect">
            <a:avLst>
              <a:gd name="adj" fmla="val 2857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2" name="Mock dot 3 r4"/>
          <p:cNvSpPr/>
          <p:nvPr/>
        </p:nvSpPr>
        <p:spPr>
          <a:xfrm>
            <a:off x="5852160" y="3264408"/>
            <a:ext cx="164592" cy="16459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3" name="Text 30 r4"/>
          <p:cNvSpPr txBox="1"/>
          <p:nvPr/>
        </p:nvSpPr>
        <p:spPr>
          <a:xfrm>
            <a:off x="6126480" y="318211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</a:t>
            </a:r>
            <a:endParaRPr lang="en-US" sz="1400" dirty="0"/>
          </a:p>
        </p:txBody>
      </p:sp>
      <p:sp>
        <p:nvSpPr>
          <p:cNvPr id="304" name="Text 31 r4"/>
          <p:cNvSpPr txBox="1"/>
          <p:nvPr/>
        </p:nvSpPr>
        <p:spPr>
          <a:xfrm>
            <a:off x="7315200" y="31821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200" dirty="0"/>
          </a:p>
        </p:txBody>
      </p:sp>
      <p:sp>
        <p:nvSpPr>
          <p:cNvPr id="305" name="Mock row 3 r5"/>
          <p:cNvSpPr/>
          <p:nvPr/>
        </p:nvSpPr>
        <p:spPr>
          <a:xfrm>
            <a:off x="5715000" y="3557016"/>
            <a:ext cx="2743200" cy="329184"/>
          </a:xfrm>
          <a:prstGeom prst="roundRect">
            <a:avLst>
              <a:gd name="adj" fmla="val 2857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6" name="Mock dot 3 r5"/>
          <p:cNvSpPr/>
          <p:nvPr/>
        </p:nvSpPr>
        <p:spPr>
          <a:xfrm>
            <a:off x="5852160" y="3639312"/>
            <a:ext cx="164592" cy="16459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7" name="Text 30 r5"/>
          <p:cNvSpPr txBox="1"/>
          <p:nvPr/>
        </p:nvSpPr>
        <p:spPr>
          <a:xfrm>
            <a:off x="6126480" y="355701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</a:t>
            </a:r>
            <a:endParaRPr lang="en-US" sz="1400" dirty="0"/>
          </a:p>
        </p:txBody>
      </p:sp>
      <p:sp>
        <p:nvSpPr>
          <p:cNvPr id="308" name="Text 31 r5"/>
          <p:cNvSpPr txBox="1"/>
          <p:nvPr/>
        </p:nvSpPr>
        <p:spPr>
          <a:xfrm>
            <a:off x="7315200" y="3557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5715000" y="3931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beds and resources</a:t>
            </a:r>
            <a:endParaRPr lang="en-US" sz="1400" dirty="0"/>
          </a:p>
        </p:txBody>
      </p:sp>
      <p:sp>
        <p:nvSpPr>
          <p:cNvPr id="36" name="Bed track 1"/>
          <p:cNvSpPr/>
          <p:nvPr/>
        </p:nvSpPr>
        <p:spPr>
          <a:xfrm>
            <a:off x="5715000" y="4206240"/>
            <a:ext cx="859536" cy="109728"/>
          </a:xfrm>
          <a:prstGeom prst="roundRect">
            <a:avLst>
              <a:gd name="adj" fmla="val 3571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Bed level 1"/>
          <p:cNvSpPr/>
          <p:nvPr/>
        </p:nvSpPr>
        <p:spPr>
          <a:xfrm>
            <a:off x="5715000" y="4206240"/>
            <a:ext cx="601675" cy="109728"/>
          </a:xfrm>
          <a:prstGeom prst="roundRect">
            <a:avLst>
              <a:gd name="adj" fmla="val 3571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8" name="Bed track 2"/>
          <p:cNvSpPr/>
          <p:nvPr/>
        </p:nvSpPr>
        <p:spPr>
          <a:xfrm>
            <a:off x="6656832" y="4206240"/>
            <a:ext cx="859536" cy="109728"/>
          </a:xfrm>
          <a:prstGeom prst="roundRect">
            <a:avLst>
              <a:gd name="adj" fmla="val 3571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9" name="Bed level 2"/>
          <p:cNvSpPr/>
          <p:nvPr/>
        </p:nvSpPr>
        <p:spPr>
          <a:xfrm>
            <a:off x="6656832" y="4206240"/>
            <a:ext cx="386791" cy="109728"/>
          </a:xfrm>
          <a:prstGeom prst="roundRect">
            <a:avLst>
              <a:gd name="adj" fmla="val 3571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0" name="Bed track 3"/>
          <p:cNvSpPr/>
          <p:nvPr/>
        </p:nvSpPr>
        <p:spPr>
          <a:xfrm>
            <a:off x="7598664" y="4206240"/>
            <a:ext cx="859536" cy="109728"/>
          </a:xfrm>
          <a:prstGeom prst="roundRect">
            <a:avLst>
              <a:gd name="adj" fmla="val 3571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1" name="Bed level 3"/>
          <p:cNvSpPr/>
          <p:nvPr/>
        </p:nvSpPr>
        <p:spPr>
          <a:xfrm>
            <a:off x="7598664" y="4206240"/>
            <a:ext cx="687629" cy="109728"/>
          </a:xfrm>
          <a:prstGeom prst="roundRect">
            <a:avLst>
              <a:gd name="adj" fmla="val 3571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715000" y="43891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only, not real output</a:t>
            </a:r>
            <a:endParaRPr lang="en-US" sz="100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6576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Severity Levels</a:t>
            </a:r>
            <a:endParaRPr lang="en-US" sz="3600" dirty="0"/>
          </a:p>
        </p:txBody>
      </p:sp>
      <p:sp>
        <p:nvSpPr>
          <p:cNvPr id="4" name="Pyramid level 1"/>
          <p:cNvSpPr/>
          <p:nvPr/>
        </p:nvSpPr>
        <p:spPr>
          <a:xfrm>
            <a:off x="1828800" y="1325880"/>
            <a:ext cx="173736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828800" y="13258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Critical</a:t>
            </a:r>
            <a:endParaRPr lang="en-US" sz="1800" dirty="0"/>
          </a:p>
        </p:txBody>
      </p:sp>
      <p:sp>
        <p:nvSpPr>
          <p:cNvPr id="6" name="Pyramid level 2"/>
          <p:cNvSpPr/>
          <p:nvPr/>
        </p:nvSpPr>
        <p:spPr>
          <a:xfrm>
            <a:off x="1371600" y="2103120"/>
            <a:ext cx="2651760" cy="68580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71600" y="21031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Severe</a:t>
            </a:r>
            <a:endParaRPr lang="en-US" sz="1800" dirty="0"/>
          </a:p>
        </p:txBody>
      </p:sp>
      <p:sp>
        <p:nvSpPr>
          <p:cNvPr id="8" name="Pyramid level 3"/>
          <p:cNvSpPr/>
          <p:nvPr/>
        </p:nvSpPr>
        <p:spPr>
          <a:xfrm>
            <a:off x="914400" y="2880360"/>
            <a:ext cx="3566160" cy="68580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28803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Moderate</a:t>
            </a:r>
            <a:endParaRPr lang="en-US" sz="1800" dirty="0"/>
          </a:p>
        </p:txBody>
      </p:sp>
      <p:sp>
        <p:nvSpPr>
          <p:cNvPr id="10" name="Pyramid level 4"/>
          <p:cNvSpPr/>
          <p:nvPr/>
        </p:nvSpPr>
        <p:spPr>
          <a:xfrm>
            <a:off x="457200" y="3657600"/>
            <a:ext cx="4480560" cy="68580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36576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Mild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48640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RANKS</a:t>
            </a:r>
            <a:endParaRPr lang="en-US" sz="1200" dirty="0"/>
          </a:p>
        </p:txBody>
      </p:sp>
      <p:sp>
        <p:nvSpPr>
          <p:cNvPr id="13" name="Ranking step 1"/>
          <p:cNvSpPr/>
          <p:nvPr/>
        </p:nvSpPr>
        <p:spPr>
          <a:xfrm>
            <a:off x="5486400" y="1783080"/>
            <a:ext cx="320040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69280" y="17830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Process </a:t>
            </a: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each patient one of these four levels</a:t>
            </a:r>
            <a:endParaRPr lang="en-US" sz="1400" dirty="0"/>
          </a:p>
        </p:txBody>
      </p:sp>
      <p:sp>
        <p:nvSpPr>
          <p:cNvPr id="15" name="Ranking step 2"/>
          <p:cNvSpPr/>
          <p:nvPr/>
        </p:nvSpPr>
        <p:spPr>
          <a:xfrm>
            <a:off x="5486400" y="2743200"/>
            <a:ext cx="320040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669280" y="27432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Process </a:t>
            </a: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patients, most severe first</a:t>
            </a:r>
            <a:endParaRPr lang="en-US" sz="1400" dirty="0"/>
          </a:p>
        </p:txBody>
      </p:sp>
      <p:sp>
        <p:nvSpPr>
          <p:cNvPr id="17" name="Ranking step 3"/>
          <p:cNvSpPr/>
          <p:nvPr/>
        </p:nvSpPr>
        <p:spPr>
          <a:xfrm>
            <a:off x="5486400" y="3703320"/>
            <a:ext cx="320040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669280" y="37033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Process </a:t>
            </a: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who is next</a:t>
            </a:r>
            <a:endParaRPr lang="en-US" sz="1400" dirty="0"/>
          </a:p>
        </p:txBody>
      </p:sp>
      <p:sp>
        <p:nvSpPr>
          <p:cNvPr id="90" name="Educational caption"/>
          <p:cNvSpPr txBox="1"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example for teaching. Not a clinically validated triage protocol.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6576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Separate Processes</a:t>
            </a:r>
            <a:endParaRPr lang="en-US" sz="3600" dirty="0"/>
          </a:p>
        </p:txBody>
      </p:sp>
      <p:sp>
        <p:nvSpPr>
          <p:cNvPr id="4" name="Resilience card 1"/>
          <p:cNvSpPr/>
          <p:nvPr/>
        </p:nvSpPr>
        <p:spPr>
          <a:xfrm>
            <a:off x="457200" y="1280160"/>
            <a:ext cx="2560320" cy="32461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Resilience icon circle 1"/>
          <p:cNvSpPr/>
          <p:nvPr/>
        </p:nvSpPr>
        <p:spPr>
          <a:xfrm>
            <a:off x="68580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The Challen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673352"/>
            <a:ext cx="310896" cy="31089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78892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arrive together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and beds keep changing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need an answer fast</a:t>
            </a:r>
            <a:endParaRPr lang="en-US" sz="1400" dirty="0"/>
          </a:p>
        </p:txBody>
      </p:sp>
      <p:sp>
        <p:nvSpPr>
          <p:cNvPr id="9" name="Flow arrow 1"/>
          <p:cNvSpPr/>
          <p:nvPr/>
        </p:nvSpPr>
        <p:spPr>
          <a:xfrm>
            <a:off x="3044952" y="2697480"/>
            <a:ext cx="219456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Resilience card 2"/>
          <p:cNvSpPr/>
          <p:nvPr/>
        </p:nvSpPr>
        <p:spPr>
          <a:xfrm>
            <a:off x="3291840" y="1280160"/>
            <a:ext cx="2560320" cy="32461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Resilience icon circle 2"/>
          <p:cNvSpPr/>
          <p:nvPr/>
        </p:nvSpPr>
        <p:spPr>
          <a:xfrm>
            <a:off x="352044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1" descr="Our Approac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167335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52044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Design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3520440" y="278892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independent QNX processes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job per process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talk through QNX IPC</a:t>
            </a:r>
            <a:endParaRPr lang="en-US" sz="1400" dirty="0"/>
          </a:p>
        </p:txBody>
      </p:sp>
      <p:sp>
        <p:nvSpPr>
          <p:cNvPr id="15" name="Flow arrow 2"/>
          <p:cNvSpPr/>
          <p:nvPr/>
        </p:nvSpPr>
        <p:spPr>
          <a:xfrm>
            <a:off x="5879592" y="2697480"/>
            <a:ext cx="219456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Resilience card 3"/>
          <p:cNvSpPr/>
          <p:nvPr/>
        </p:nvSpPr>
        <p:spPr>
          <a:xfrm>
            <a:off x="6126480" y="1280160"/>
            <a:ext cx="2560320" cy="3246120"/>
          </a:xfrm>
          <a:prstGeom prst="roundRect">
            <a:avLst>
              <a:gd name="adj" fmla="val 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Resilience icon circle 3"/>
          <p:cNvSpPr/>
          <p:nvPr/>
        </p:nvSpPr>
        <p:spPr>
          <a:xfrm>
            <a:off x="635508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2" descr="The Outcom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1673352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35508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Result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6355080" y="278892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priority queue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updates quickly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timing, to confirm in the profiler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6576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Performance</a:t>
            </a:r>
            <a:endParaRPr lang="en-US" sz="3600" dirty="0"/>
          </a:p>
        </p:txBody>
      </p:sp>
      <p:sp>
        <p:nvSpPr>
          <p:cNvPr id="4" name="Profiler screenshot placeholder"/>
          <p:cNvSpPr/>
          <p:nvPr/>
        </p:nvSpPr>
        <p:spPr>
          <a:xfrm>
            <a:off x="457200" y="1280160"/>
            <a:ext cx="502920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5875">
            <a:solidFill>
              <a:schemeClr val="tx2"/>
            </a:solidFill>
            <a:prstDash val="dash"/>
          </a:ln>
        </p:spPr>
      </p:sp>
      <p:sp>
        <p:nvSpPr>
          <p:cNvPr id="5" name="Text 2"/>
          <p:cNvSpPr txBox="1"/>
          <p:nvPr/>
        </p:nvSpPr>
        <p:spPr>
          <a:xfrm>
            <a:off x="731520" y="2377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QNX Momentics System Profiler screenshot here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8803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our own run, CPU usage and thread timing</a:t>
            </a:r>
            <a:endParaRPr lang="en-US" sz="1400" dirty="0"/>
          </a:p>
        </p:txBody>
      </p:sp>
      <p:sp>
        <p:nvSpPr>
          <p:cNvPr id="7" name="Why it matters panel"/>
          <p:cNvSpPr/>
          <p:nvPr/>
        </p:nvSpPr>
        <p:spPr>
          <a:xfrm>
            <a:off x="5760720" y="1280160"/>
            <a:ext cx="2926080" cy="3246120"/>
          </a:xfrm>
          <a:prstGeom prst="roundRect">
            <a:avLst>
              <a:gd name="adj" fmla="val 375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89320" y="1508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89320" y="1920240"/>
            <a:ext cx="2514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a severity change to the dashboard update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usage of each of the five processes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timing while patients are added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427240-7B9E-25BA-AF76-062C15EE1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" y="1280159"/>
            <a:ext cx="5029201" cy="32461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6576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3600" dirty="0"/>
          </a:p>
        </p:txBody>
      </p:sp>
      <p:sp>
        <p:nvSpPr>
          <p:cNvPr id="4" name="Demo step 1"/>
          <p:cNvSpPr/>
          <p:nvPr/>
        </p:nvSpPr>
        <p:spPr>
          <a:xfrm>
            <a:off x="457200" y="1371600"/>
            <a:ext cx="1828800" cy="301752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508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Demo icon circle 1"/>
          <p:cNvSpPr/>
          <p:nvPr/>
        </p:nvSpPr>
        <p:spPr>
          <a:xfrm>
            <a:off x="685800" y="24231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Create multiple patien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587752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320040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several patients</a:t>
            </a:r>
            <a:endParaRPr lang="en-US" sz="1600" dirty="0"/>
          </a:p>
        </p:txBody>
      </p:sp>
      <p:sp>
        <p:nvSpPr>
          <p:cNvPr id="9" name="Demo arrow 1"/>
          <p:cNvSpPr/>
          <p:nvPr/>
        </p:nvSpPr>
        <p:spPr>
          <a:xfrm>
            <a:off x="2322576" y="2743200"/>
            <a:ext cx="219456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Demo step 2"/>
          <p:cNvSpPr/>
          <p:nvPr/>
        </p:nvSpPr>
        <p:spPr>
          <a:xfrm>
            <a:off x="2590495" y="1371600"/>
            <a:ext cx="1828800" cy="301752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819095" y="1508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800" dirty="0"/>
          </a:p>
        </p:txBody>
      </p:sp>
      <p:sp>
        <p:nvSpPr>
          <p:cNvPr id="12" name="Demo icon circle 2"/>
          <p:cNvSpPr/>
          <p:nvPr/>
        </p:nvSpPr>
        <p:spPr>
          <a:xfrm>
            <a:off x="2819095" y="24231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1" descr="Change their severit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3687" y="258775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819095" y="320040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patient's severity</a:t>
            </a:r>
            <a:endParaRPr lang="en-US" sz="1600" dirty="0"/>
          </a:p>
        </p:txBody>
      </p:sp>
      <p:sp>
        <p:nvSpPr>
          <p:cNvPr id="15" name="Demo arrow 2"/>
          <p:cNvSpPr/>
          <p:nvPr/>
        </p:nvSpPr>
        <p:spPr>
          <a:xfrm>
            <a:off x="4455871" y="2743200"/>
            <a:ext cx="219456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Demo step 3"/>
          <p:cNvSpPr/>
          <p:nvPr/>
        </p:nvSpPr>
        <p:spPr>
          <a:xfrm>
            <a:off x="4723790" y="1371600"/>
            <a:ext cx="1828800" cy="301752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952390" y="1508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800" dirty="0"/>
          </a:p>
        </p:txBody>
      </p:sp>
      <p:sp>
        <p:nvSpPr>
          <p:cNvPr id="18" name="Demo icon circle 3"/>
          <p:cNvSpPr/>
          <p:nvPr/>
        </p:nvSpPr>
        <p:spPr>
          <a:xfrm>
            <a:off x="4952390" y="24231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2" descr="Update resource availabilit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6982" y="2587752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952390" y="320040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ICU and bed availability</a:t>
            </a:r>
            <a:endParaRPr lang="en-US" sz="1600" dirty="0"/>
          </a:p>
        </p:txBody>
      </p:sp>
      <p:sp>
        <p:nvSpPr>
          <p:cNvPr id="21" name="Demo arrow 3"/>
          <p:cNvSpPr/>
          <p:nvPr/>
        </p:nvSpPr>
        <p:spPr>
          <a:xfrm>
            <a:off x="6589166" y="2743200"/>
            <a:ext cx="219456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Demo step 4"/>
          <p:cNvSpPr/>
          <p:nvPr/>
        </p:nvSpPr>
        <p:spPr>
          <a:xfrm>
            <a:off x="6857086" y="1371600"/>
            <a:ext cx="1828800" cy="301752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7085686" y="1508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800" dirty="0"/>
          </a:p>
        </p:txBody>
      </p:sp>
      <p:sp>
        <p:nvSpPr>
          <p:cNvPr id="24" name="Demo icon circle 4"/>
          <p:cNvSpPr/>
          <p:nvPr/>
        </p:nvSpPr>
        <p:spPr>
          <a:xfrm>
            <a:off x="7085686" y="2423160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5" name="Image 3" descr="Dashboard and priority queue respon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0278" y="2587752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85686" y="320040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dashboard and queue update</a:t>
            </a:r>
            <a:endParaRPr lang="en-US" sz="1600" dirty="0"/>
          </a:p>
        </p:txBody>
      </p:sp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6576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Path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extension: from one core system to a hospital network</a:t>
            </a:r>
            <a:endParaRPr lang="en-US" sz="1800" dirty="0"/>
          </a:p>
        </p:txBody>
      </p:sp>
      <p:sp>
        <p:nvSpPr>
          <p:cNvPr id="5" name="Scale card 1"/>
          <p:cNvSpPr/>
          <p:nvPr/>
        </p:nvSpPr>
        <p:spPr>
          <a:xfrm>
            <a:off x="457200" y="246888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cale icon circle 1"/>
          <p:cNvSpPr/>
          <p:nvPr/>
        </p:nvSpPr>
        <p:spPr>
          <a:xfrm>
            <a:off x="685800" y="2697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Core QNX Syst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843784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3383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QNX System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processes in the current design</a:t>
            </a:r>
            <a:endParaRPr lang="en-US" sz="1400" dirty="0"/>
          </a:p>
        </p:txBody>
      </p:sp>
      <p:sp>
        <p:nvSpPr>
          <p:cNvPr id="10" name="Scale card 2"/>
          <p:cNvSpPr/>
          <p:nvPr/>
        </p:nvSpPr>
        <p:spPr>
          <a:xfrm>
            <a:off x="3291840" y="192024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Scale icon circle 2"/>
          <p:cNvSpPr/>
          <p:nvPr/>
        </p:nvSpPr>
        <p:spPr>
          <a:xfrm>
            <a:off x="3520440" y="21488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1" descr="Multi-Department Hospita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744" y="229514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520440" y="2834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Multi-Department Hospital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3520440" y="35204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Planned: more departments, patients and beds</a:t>
            </a:r>
            <a:endParaRPr lang="en-US" sz="1400" dirty="0"/>
          </a:p>
        </p:txBody>
      </p:sp>
      <p:sp>
        <p:nvSpPr>
          <p:cNvPr id="15" name="Scale card 3"/>
          <p:cNvSpPr/>
          <p:nvPr/>
        </p:nvSpPr>
        <p:spPr>
          <a:xfrm>
            <a:off x="6126480" y="1463040"/>
            <a:ext cx="2560320" cy="3108960"/>
          </a:xfrm>
          <a:prstGeom prst="roundRect">
            <a:avLst>
              <a:gd name="adj" fmla="val 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cale icon circle 3"/>
          <p:cNvSpPr/>
          <p:nvPr/>
        </p:nvSpPr>
        <p:spPr>
          <a:xfrm>
            <a:off x="6355080" y="169164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7" name="Image 2" descr="Hospital Networ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1837944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355080" y="2377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Network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6355080" y="306324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idea: hospitals sharing bed and priority data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6576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and Conclusion</a:t>
            </a:r>
            <a:endParaRPr lang="en-US" sz="3600" dirty="0"/>
          </a:p>
        </p:txBody>
      </p:sp>
      <p:sp>
        <p:nvSpPr>
          <p:cNvPr id="4" name="Scale level 1"/>
          <p:cNvSpPr/>
          <p:nvPr/>
        </p:nvSpPr>
        <p:spPr>
          <a:xfrm>
            <a:off x="1828800" y="1325880"/>
            <a:ext cx="173736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cale label 1"/>
          <p:cNvSpPr txBox="1"/>
          <p:nvPr/>
        </p:nvSpPr>
        <p:spPr>
          <a:xfrm>
            <a:off x="1828800" y="13258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Network</a:t>
            </a:r>
          </a:p>
        </p:txBody>
      </p:sp>
      <p:sp>
        <p:nvSpPr>
          <p:cNvPr id="6" name="Scale level 2"/>
          <p:cNvSpPr/>
          <p:nvPr/>
        </p:nvSpPr>
        <p:spPr>
          <a:xfrm>
            <a:off x="1371600" y="2103120"/>
            <a:ext cx="2651760" cy="68580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Scale label 2"/>
          <p:cNvSpPr txBox="1"/>
          <p:nvPr/>
        </p:nvSpPr>
        <p:spPr>
          <a:xfrm>
            <a:off x="1371600" y="21031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Multi-Department Hospital</a:t>
            </a:r>
          </a:p>
        </p:txBody>
      </p:sp>
      <p:sp>
        <p:nvSpPr>
          <p:cNvPr id="8" name="Scale level 3"/>
          <p:cNvSpPr/>
          <p:nvPr/>
        </p:nvSpPr>
        <p:spPr>
          <a:xfrm>
            <a:off x="914400" y="2880360"/>
            <a:ext cx="356616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Scale label 3"/>
          <p:cNvSpPr txBox="1"/>
          <p:nvPr/>
        </p:nvSpPr>
        <p:spPr>
          <a:xfrm>
            <a:off x="914400" y="28803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Patients, Beds &amp; Resources</a:t>
            </a:r>
          </a:p>
        </p:txBody>
      </p:sp>
      <p:sp>
        <p:nvSpPr>
          <p:cNvPr id="10" name="Scale level 4"/>
          <p:cNvSpPr/>
          <p:nvPr/>
        </p:nvSpPr>
        <p:spPr>
          <a:xfrm>
            <a:off x="457200" y="3657600"/>
            <a:ext cx="44805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cale label 4"/>
          <p:cNvSpPr txBox="1"/>
          <p:nvPr/>
        </p:nvSpPr>
        <p:spPr>
          <a:xfrm>
            <a:off x="457200" y="36576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QNX System  |  Five Processes</a:t>
            </a:r>
          </a:p>
        </p:txBody>
      </p:sp>
      <p:sp>
        <p:nvSpPr>
          <p:cNvPr id="12" name="Scale caption"/>
          <p:cNvSpPr txBox="1"/>
          <p:nvPr/>
        </p:nvSpPr>
        <p:spPr>
          <a:xfrm>
            <a:off x="457200" y="4434840"/>
            <a:ext cx="448056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growth path (planned, not yet tested)</a:t>
            </a:r>
          </a:p>
        </p:txBody>
      </p:sp>
      <p:sp>
        <p:nvSpPr>
          <p:cNvPr id="13" name="Innovation card"/>
          <p:cNvSpPr/>
          <p:nvPr/>
        </p:nvSpPr>
        <p:spPr>
          <a:xfrm>
            <a:off x="5486400" y="1325880"/>
            <a:ext cx="3200400" cy="155448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nnovation text"/>
          <p:cNvSpPr txBox="1"/>
          <p:nvPr/>
        </p:nvSpPr>
        <p:spPr>
          <a:xfrm>
            <a:off x="5669280" y="132588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QNX FOR THIS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400" b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QNX RTOS gives predictable scheduling and process isolation. We use both for ranking emergency patients.</a:t>
            </a:r>
          </a:p>
        </p:txBody>
      </p:sp>
      <p:sp>
        <p:nvSpPr>
          <p:cNvPr id="15" name="Closing card"/>
          <p:cNvSpPr/>
          <p:nvPr/>
        </p:nvSpPr>
        <p:spPr>
          <a:xfrm>
            <a:off x="5486400" y="3017520"/>
            <a:ext cx="3200400" cy="1325880"/>
          </a:xfrm>
          <a:prstGeom prst="roundRect">
            <a:avLst>
              <a:gd name="adj" fmla="val 521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Closing text"/>
          <p:cNvSpPr txBox="1"/>
          <p:nvPr/>
        </p:nvSpPr>
        <p:spPr>
          <a:xfrm>
            <a:off x="5669280" y="301752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QNX-based patient ranking system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400" b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test with our own timing data</a:t>
            </a:r>
          </a:p>
        </p:txBody>
      </p:sp>
      <p:sp>
        <p:nvSpPr>
          <p:cNvPr id="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ng 1"/>
          <p:cNvSpPr/>
          <p:nvPr/>
        </p:nvSpPr>
        <p:spPr>
          <a:xfrm>
            <a:off x="4846320" y="91440"/>
            <a:ext cx="4754880" cy="4754880"/>
          </a:xfrm>
          <a:prstGeom prst="ellipse">
            <a:avLst/>
          </a:prstGeom>
          <a:solidFill>
            <a:srgbClr val="0B1220">
              <a:alpha val="0"/>
            </a:srgbClr>
          </a:solidFill>
          <a:ln w="19050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4" name="Ring 2"/>
          <p:cNvSpPr/>
          <p:nvPr/>
        </p:nvSpPr>
        <p:spPr>
          <a:xfrm>
            <a:off x="5394960" y="640080"/>
            <a:ext cx="3657600" cy="3657600"/>
          </a:xfrm>
          <a:prstGeom prst="ellipse">
            <a:avLst/>
          </a:prstGeom>
          <a:solidFill>
            <a:srgbClr val="0B1220">
              <a:alpha val="0"/>
            </a:srgbClr>
          </a:solidFill>
          <a:ln w="19050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5" name="Ring 3"/>
          <p:cNvSpPr/>
          <p:nvPr/>
        </p:nvSpPr>
        <p:spPr>
          <a:xfrm>
            <a:off x="5943600" y="1188720"/>
            <a:ext cx="2560320" cy="2560320"/>
          </a:xfrm>
          <a:prstGeom prst="ellipse">
            <a:avLst/>
          </a:prstGeom>
          <a:solidFill>
            <a:srgbClr val="0B1220">
              <a:alpha val="0"/>
            </a:srgbClr>
          </a:solidFill>
          <a:ln w="19050">
            <a:solidFill>
              <a:schemeClr val="accent1">
                <a:alpha val="70000"/>
              </a:schemeClr>
            </a:solidFill>
            <a:prstDash val="solid"/>
          </a:ln>
        </p:spPr>
      </p:sp>
      <p:sp>
        <p:nvSpPr>
          <p:cNvPr id="6" name="Heartbeat badge"/>
          <p:cNvSpPr/>
          <p:nvPr/>
        </p:nvSpPr>
        <p:spPr>
          <a:xfrm>
            <a:off x="6537960" y="1783080"/>
            <a:ext cx="1371600" cy="1371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Heartbea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103120"/>
            <a:ext cx="731520" cy="731520"/>
          </a:xfrm>
          <a:prstGeom prst="rect">
            <a:avLst/>
          </a:prstGeom>
        </p:spPr>
      </p:pic>
      <p:sp>
        <p:nvSpPr>
          <p:cNvPr id="8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7373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788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Emergency Response Coordinator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32918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QNX-based system that ranks emergency patients by severity and tracks ICU beds.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QNX RTOS  |  Happy to take questions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NX Hospital">
  <a:themeElements>
    <a:clrScheme name="QNX Hospital">
      <a:dk1>
        <a:srgbClr val="0B1220"/>
      </a:dk1>
      <a:lt1>
        <a:srgbClr val="FFFFFF"/>
      </a:lt1>
      <a:dk2>
        <a:srgbClr val="5B6475"/>
      </a:dk2>
      <a:lt2>
        <a:srgbClr val="F3F4F8"/>
      </a:lt2>
      <a:accent1>
        <a:srgbClr val="F04E37"/>
      </a:accent1>
      <a:accent2>
        <a:srgbClr val="F97316"/>
      </a:accent2>
      <a:accent3>
        <a:srgbClr val="F5B800"/>
      </a:accent3>
      <a:accent4>
        <a:srgbClr val="22C55E"/>
      </a:accent4>
      <a:accent5>
        <a:srgbClr val="1F2A44"/>
      </a:accent5>
      <a:accent6>
        <a:srgbClr val="0EA5E9"/>
      </a:accent6>
      <a:hlink>
        <a:srgbClr val="F04E37"/>
      </a:hlink>
      <a:folHlink>
        <a:srgbClr val="5B6475"/>
      </a:folHlink>
    </a:clrScheme>
    <a:fontScheme name="QNX Hospita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2137</Words>
  <Application>Microsoft Office PowerPoint</Application>
  <PresentationFormat>On-screen Show (16:9)</PresentationFormat>
  <Paragraphs>206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QNX Hospital</vt:lpstr>
      <vt:lpstr>Hospital Emergency Response Coordinator</vt:lpstr>
      <vt:lpstr>Why Triage Order Matters</vt:lpstr>
      <vt:lpstr>Our Solution</vt:lpstr>
      <vt:lpstr>QNX Architecture</vt:lpstr>
      <vt:lpstr>Processing Flow</vt:lpstr>
      <vt:lpstr>Four Severity Levels</vt:lpstr>
      <vt:lpstr>Why Separate Processes</vt:lpstr>
      <vt:lpstr>Real-Time Performance</vt:lpstr>
      <vt:lpstr>Live Demonstration</vt:lpstr>
      <vt:lpstr>Growth Path</vt:lpstr>
      <vt:lpstr>Scalability and Conclusion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Emergency Response Coordinator - QNX RTOS</dc:title>
  <dc:subject>PptxGenJS Presentation</dc:subject>
  <dc:creator>PptxGenJS</dc:creator>
  <cp:lastModifiedBy>Madhu Sri</cp:lastModifiedBy>
  <cp:revision>2</cp:revision>
  <dcterms:created xsi:type="dcterms:W3CDTF">2026-10-07T07:53:08Z</dcterms:created>
  <dcterms:modified xsi:type="dcterms:W3CDTF">2026-10-09T23:04:16Z</dcterms:modified>
</cp:coreProperties>
</file>